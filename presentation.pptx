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8" r:id="rId6"/>
    <p:sldId id="259" r:id="rId7"/>
    <p:sldId id="261" r:id="rId8"/>
    <p:sldId id="262" r:id="rId9"/>
    <p:sldId id="264" r:id="rId10"/>
    <p:sldId id="263" r:id="rId11"/>
    <p:sldId id="266" r:id="rId12"/>
  </p:sldIdLst>
  <p:sldSz cx="18288000" cy="10287000"/>
  <p:notesSz cx="6858000" cy="9144000"/>
  <p:embeddedFontLs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Nirmala UI Semilight" pitchFamily="34" charset="0"/>
      <p:regular r:id="rId17"/>
    </p:embeddedFont>
    <p:embeddedFont>
      <p:font typeface="Open Sans" charset="0"/>
      <p:regular r:id="rId18"/>
    </p:embeddedFont>
    <p:embeddedFont>
      <p:font typeface="Open Sans Bold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-1906" y="-7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5341" y="5829300"/>
            <a:ext cx="13182490" cy="4789960"/>
          </a:xfrm>
          <a:custGeom>
            <a:avLst/>
            <a:gdLst/>
            <a:ahLst/>
            <a:cxnLst/>
            <a:rect l="l" t="t" r="r" b="b"/>
            <a:pathLst>
              <a:path w="16230600" h="6729761">
                <a:moveTo>
                  <a:pt x="0" y="0"/>
                </a:moveTo>
                <a:lnTo>
                  <a:pt x="16230600" y="0"/>
                </a:lnTo>
                <a:lnTo>
                  <a:pt x="16230600" y="6729761"/>
                </a:lnTo>
                <a:lnTo>
                  <a:pt x="0" y="6729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908" y="1562100"/>
            <a:ext cx="17937292" cy="29700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72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Sales Performance Dashboard Analysis </a:t>
            </a:r>
            <a:endParaRPr lang="en-US" sz="72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5" name="Freeform 5"/>
          <p:cNvSpPr/>
          <p:nvPr/>
        </p:nvSpPr>
        <p:spPr>
          <a:xfrm rot="-10800000">
            <a:off x="11601747" y="-266700"/>
            <a:ext cx="6686253" cy="2772349"/>
          </a:xfrm>
          <a:custGeom>
            <a:avLst/>
            <a:gdLst/>
            <a:ahLst/>
            <a:cxnLst/>
            <a:rect l="l" t="t" r="r" b="b"/>
            <a:pathLst>
              <a:path w="6686253" h="2772349">
                <a:moveTo>
                  <a:pt x="0" y="0"/>
                </a:moveTo>
                <a:lnTo>
                  <a:pt x="6686252" y="0"/>
                </a:lnTo>
                <a:lnTo>
                  <a:pt x="6686252" y="2772349"/>
                </a:lnTo>
                <a:lnTo>
                  <a:pt x="0" y="2772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13660" y="6565457"/>
            <a:ext cx="5671815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22"/>
              </a:lnSpc>
            </a:pPr>
            <a:r>
              <a:rPr lang="en-US" sz="4587" b="1" dirty="0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Power BI Project</a:t>
            </a:r>
          </a:p>
          <a:p>
            <a:pPr algn="ctr">
              <a:lnSpc>
                <a:spcPts val="6422"/>
              </a:lnSpc>
            </a:pPr>
            <a:r>
              <a:rPr lang="en-US" sz="4587" b="1" dirty="0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 </a:t>
            </a:r>
            <a:r>
              <a:rPr lang="en-US" sz="4587" b="1" dirty="0" err="1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Anushri</a:t>
            </a:r>
            <a:endParaRPr lang="en-US" sz="4587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-82112" y="-190500"/>
            <a:ext cx="5960557" cy="3096252"/>
          </a:xfrm>
          <a:custGeom>
            <a:avLst/>
            <a:gdLst/>
            <a:ahLst/>
            <a:cxnLst/>
            <a:rect l="l" t="t" r="r" b="b"/>
            <a:pathLst>
              <a:path w="5953679" h="3114233">
                <a:moveTo>
                  <a:pt x="0" y="0"/>
                </a:moveTo>
                <a:lnTo>
                  <a:pt x="5953679" y="0"/>
                </a:lnTo>
                <a:lnTo>
                  <a:pt x="5953679" y="3114233"/>
                </a:lnTo>
                <a:lnTo>
                  <a:pt x="0" y="3114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59" r="-240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06955" y="1322349"/>
            <a:ext cx="7730378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OBJECTIVE</a:t>
            </a:r>
            <a:endParaRPr lang="en-US" sz="7500" u="none" strike="noStrike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10273" y="3052077"/>
            <a:ext cx="14826067" cy="2920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050" lvl="1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  <a:sym typeface="Open Sans"/>
              </a:rPr>
              <a:t>Analyze overall business performance</a:t>
            </a:r>
          </a:p>
          <a:p>
            <a:pPr marL="781050" lvl="1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  <a:sym typeface="Open Sans"/>
              </a:rPr>
              <a:t>Understand Customer behavior</a:t>
            </a:r>
          </a:p>
          <a:p>
            <a:pPr marL="781050" lvl="1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Nirmala UI Semilight" pitchFamily="34" charset="0"/>
                <a:ea typeface="Nirmala UI Semilight" pitchFamily="34" charset="0"/>
                <a:cs typeface="Nirmala UI Semilight" pitchFamily="34" charset="0"/>
                <a:sym typeface="Open Sans"/>
              </a:rPr>
              <a:t>Identify key revenue pattern</a:t>
            </a:r>
            <a:endParaRPr lang="en-US" sz="4400" dirty="0">
              <a:solidFill>
                <a:srgbClr val="000000"/>
              </a:solidFill>
              <a:latin typeface="Nirmala UI Semilight" pitchFamily="34" charset="0"/>
              <a:ea typeface="Nirmala UI Semilight" pitchFamily="34" charset="0"/>
              <a:cs typeface="Nirmala UI Semilight" pitchFamily="34" charset="0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891" y="3497993"/>
            <a:ext cx="15606697" cy="5074507"/>
            <a:chOff x="-8028" y="-543405"/>
            <a:chExt cx="4110406" cy="1123255"/>
          </a:xfrm>
        </p:grpSpPr>
        <p:sp>
          <p:nvSpPr>
            <p:cNvPr id="3" name="Freeform 3"/>
            <p:cNvSpPr/>
            <p:nvPr/>
          </p:nvSpPr>
          <p:spPr>
            <a:xfrm>
              <a:off x="-8028" y="-543405"/>
              <a:ext cx="4102378" cy="954584"/>
            </a:xfrm>
            <a:custGeom>
              <a:avLst/>
              <a:gdLst/>
              <a:ahLst/>
              <a:cxnLst/>
              <a:rect l="l" t="t" r="r" b="b"/>
              <a:pathLst>
                <a:path w="4102378" h="579850">
                  <a:moveTo>
                    <a:pt x="0" y="0"/>
                  </a:moveTo>
                  <a:lnTo>
                    <a:pt x="4102378" y="0"/>
                  </a:lnTo>
                  <a:lnTo>
                    <a:pt x="4102378" y="579850"/>
                  </a:lnTo>
                  <a:lnTo>
                    <a:pt x="0" y="579850"/>
                  </a:lnTo>
                  <a:close/>
                </a:path>
              </a:pathLst>
            </a:custGeom>
            <a:solidFill>
              <a:srgbClr val="7976DE"/>
            </a:solidFill>
          </p:spPr>
          <p:txBody>
            <a:bodyPr/>
            <a:lstStyle/>
            <a:p>
              <a:pPr marL="571500" indent="-57150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IN" sz="4400" b="1" dirty="0" smtClean="0">
                  <a:solidFill>
                    <a:schemeClr val="bg1"/>
                  </a:solidFill>
                </a:rPr>
                <a:t>Total Revenue</a:t>
              </a:r>
            </a:p>
            <a:p>
              <a:pPr marL="571500" indent="-57150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IN" sz="4400" b="1" dirty="0" smtClean="0">
                  <a:solidFill>
                    <a:schemeClr val="bg1"/>
                  </a:solidFill>
                </a:rPr>
                <a:t>Total Transactions</a:t>
              </a:r>
            </a:p>
            <a:p>
              <a:pPr marL="571500" indent="-57150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IN" sz="4400" b="1" dirty="0" smtClean="0">
                  <a:solidFill>
                    <a:schemeClr val="bg1"/>
                  </a:solidFill>
                </a:rPr>
                <a:t>Average Bill Values</a:t>
              </a:r>
            </a:p>
            <a:p>
              <a:pPr marL="571500" indent="-57150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IN" sz="4400" b="1" dirty="0" smtClean="0">
                  <a:solidFill>
                    <a:schemeClr val="bg1"/>
                  </a:solidFill>
                </a:rPr>
                <a:t>Average Tip Percentage</a:t>
              </a:r>
              <a:endParaRPr lang="en-IN" sz="4400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02378" cy="61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188" y="1714500"/>
            <a:ext cx="18241812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KEY PERFORMANCE </a:t>
            </a: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 INDICATORS</a:t>
            </a:r>
            <a:endParaRPr lang="en-US" sz="7500" u="none" strike="noStrike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1" name="Freeform 11"/>
          <p:cNvSpPr/>
          <p:nvPr/>
        </p:nvSpPr>
        <p:spPr>
          <a:xfrm rot="-10800000">
            <a:off x="12249012" y="-862704"/>
            <a:ext cx="6686253" cy="2772349"/>
          </a:xfrm>
          <a:custGeom>
            <a:avLst/>
            <a:gdLst/>
            <a:ahLst/>
            <a:cxnLst/>
            <a:rect l="l" t="t" r="r" b="b"/>
            <a:pathLst>
              <a:path w="6686253" h="2772349">
                <a:moveTo>
                  <a:pt x="0" y="0"/>
                </a:moveTo>
                <a:lnTo>
                  <a:pt x="6686253" y="0"/>
                </a:lnTo>
                <a:lnTo>
                  <a:pt x="6686253" y="2772349"/>
                </a:lnTo>
                <a:lnTo>
                  <a:pt x="0" y="2772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2853559" y="0"/>
            <a:ext cx="11445927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Dashboard Overview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3460"/>
            <a:ext cx="18288000" cy="94537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783482" y="221876"/>
            <a:ext cx="10963754" cy="1613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4465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DATA STORY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1" name="Freeform 11"/>
          <p:cNvSpPr/>
          <p:nvPr/>
        </p:nvSpPr>
        <p:spPr>
          <a:xfrm rot="-108813">
            <a:off x="-1558739" y="8224756"/>
            <a:ext cx="5787427" cy="2399665"/>
          </a:xfrm>
          <a:custGeom>
            <a:avLst/>
            <a:gdLst/>
            <a:ahLst/>
            <a:cxnLst/>
            <a:rect l="l" t="t" r="r" b="b"/>
            <a:pathLst>
              <a:path w="5787427" h="2399665">
                <a:moveTo>
                  <a:pt x="0" y="0"/>
                </a:moveTo>
                <a:lnTo>
                  <a:pt x="5787427" y="0"/>
                </a:lnTo>
                <a:lnTo>
                  <a:pt x="5787427" y="2399665"/>
                </a:lnTo>
                <a:lnTo>
                  <a:pt x="0" y="2399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13747236" y="-171132"/>
            <a:ext cx="5787427" cy="2399665"/>
          </a:xfrm>
          <a:custGeom>
            <a:avLst/>
            <a:gdLst/>
            <a:ahLst/>
            <a:cxnLst/>
            <a:rect l="l" t="t" r="r" b="b"/>
            <a:pathLst>
              <a:path w="5787427" h="2399665">
                <a:moveTo>
                  <a:pt x="0" y="0"/>
                </a:moveTo>
                <a:lnTo>
                  <a:pt x="5787427" y="0"/>
                </a:lnTo>
                <a:lnTo>
                  <a:pt x="5787427" y="2399664"/>
                </a:lnTo>
                <a:lnTo>
                  <a:pt x="0" y="2399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Rectangle 12"/>
          <p:cNvSpPr/>
          <p:nvPr/>
        </p:nvSpPr>
        <p:spPr>
          <a:xfrm>
            <a:off x="2415540" y="2476500"/>
            <a:ext cx="1363218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>
                <a:latin typeface="Open Sans" charset="0"/>
                <a:ea typeface="Open Sans" charset="0"/>
                <a:cs typeface="Open Sans" charset="0"/>
              </a:rPr>
              <a:t> Understand customer behavior and revenue patterns  </a:t>
            </a:r>
          </a:p>
          <a:p>
            <a:pPr marL="571500" indent="-5715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>
                <a:latin typeface="Open Sans" charset="0"/>
                <a:ea typeface="Open Sans" charset="0"/>
                <a:cs typeface="Open Sans" charset="0"/>
              </a:rPr>
              <a:t>Identify peak business hours (Lunch </a:t>
            </a:r>
            <a:r>
              <a:rPr lang="en-US" sz="4400" dirty="0" err="1">
                <a:latin typeface="Open Sans" charset="0"/>
                <a:ea typeface="Open Sans" charset="0"/>
                <a:cs typeface="Open Sans" charset="0"/>
              </a:rPr>
              <a:t>vs</a:t>
            </a:r>
            <a:r>
              <a:rPr lang="en-US" sz="4400" dirty="0">
                <a:latin typeface="Open Sans" charset="0"/>
                <a:ea typeface="Open Sans" charset="0"/>
                <a:cs typeface="Open Sans" charset="0"/>
              </a:rPr>
              <a:t> Dinner)  </a:t>
            </a:r>
          </a:p>
          <a:p>
            <a:pPr marL="571500" indent="-5715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>
                <a:latin typeface="Open Sans" charset="0"/>
                <a:ea typeface="Open Sans" charset="0"/>
                <a:cs typeface="Open Sans" charset="0"/>
              </a:rPr>
              <a:t> Analyze performance across days and group size  </a:t>
            </a:r>
          </a:p>
          <a:p>
            <a:pPr marL="571500" indent="-5715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>
                <a:latin typeface="Open Sans" charset="0"/>
                <a:ea typeface="Open Sans" charset="0"/>
                <a:cs typeface="Open Sans" charset="0"/>
              </a:rPr>
              <a:t> Discover opportunities to increase revenue </a:t>
            </a:r>
            <a:endParaRPr lang="en-IN" sz="4400" dirty="0">
              <a:latin typeface="Open Sans" charset="0"/>
              <a:ea typeface="Open Sans" charset="0"/>
              <a:cs typeface="Ope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19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645406">
            <a:off x="54791" y="-310472"/>
            <a:ext cx="4614466" cy="1913315"/>
          </a:xfrm>
          <a:custGeom>
            <a:avLst/>
            <a:gdLst/>
            <a:ahLst/>
            <a:cxnLst/>
            <a:rect l="l" t="t" r="r" b="b"/>
            <a:pathLst>
              <a:path w="4614466" h="1913315">
                <a:moveTo>
                  <a:pt x="0" y="0"/>
                </a:moveTo>
                <a:lnTo>
                  <a:pt x="4614466" y="0"/>
                </a:lnTo>
                <a:lnTo>
                  <a:pt x="4614466" y="1913315"/>
                </a:lnTo>
                <a:lnTo>
                  <a:pt x="0" y="1913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42367" y="876300"/>
            <a:ext cx="12100262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ANALYSIS PERFORMED 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60367" y="2968625"/>
            <a:ext cx="9898233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Revenue by Day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Revenue by Time (Lunch </a:t>
            </a:r>
            <a:r>
              <a:rPr lang="en-US" sz="4400" dirty="0" err="1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vs</a:t>
            </a: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Dinner)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Tip % by Gender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Revenue by Group Size </a:t>
            </a:r>
            <a:endParaRPr lang="en-US" sz="4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3162300"/>
            <a:ext cx="4879439" cy="4588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7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57610" y="845820"/>
            <a:ext cx="5616702" cy="8229600"/>
          </a:xfrm>
          <a:custGeom>
            <a:avLst/>
            <a:gdLst/>
            <a:ahLst/>
            <a:cxnLst/>
            <a:rect l="l" t="t" r="r" b="b"/>
            <a:pathLst>
              <a:path w="5616702" h="8229600">
                <a:moveTo>
                  <a:pt x="0" y="0"/>
                </a:moveTo>
                <a:lnTo>
                  <a:pt x="5616702" y="0"/>
                </a:lnTo>
                <a:lnTo>
                  <a:pt x="56167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1517" y="876300"/>
            <a:ext cx="10356094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KEY INSIGHTS</a:t>
            </a:r>
            <a:endParaRPr lang="en-US" sz="7500" dirty="0">
              <a:solidFill>
                <a:srgbClr val="FFFFFF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657011"/>
            <a:ext cx="12382500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Dinner generates highest revenue (~76%)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Weekends drive maximum sales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Average tip is around 16%</a:t>
            </a:r>
          </a:p>
          <a:p>
            <a:pPr marL="539749" lvl="1" indent="-269875" algn="just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Group size of 2 contributes most revenue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0546" y="876300"/>
            <a:ext cx="12866907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BUSINESS IMPACT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974162"/>
            <a:ext cx="9563100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Identifies peak revenue time</a:t>
            </a:r>
          </a:p>
          <a:p>
            <a:pPr marL="539749" lvl="1" indent="-269875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target high-value customers</a:t>
            </a:r>
          </a:p>
          <a:p>
            <a:pPr marL="539749" lvl="1" indent="-269875">
              <a:lnSpc>
                <a:spcPct val="150000"/>
              </a:lnSpc>
              <a:buFont typeface="Arial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Supports better decisions making</a:t>
            </a:r>
            <a:endParaRPr lang="en-US" sz="4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560" y="2130385"/>
            <a:ext cx="5619064" cy="55872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988166" y="520677"/>
            <a:ext cx="12311669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HYPOTHESIS TESTING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7260" y="1943100"/>
            <a:ext cx="1277874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Hypothesis:</a:t>
            </a:r>
          </a:p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Dinner generates higher revenue than Lunch</a:t>
            </a:r>
          </a:p>
          <a:p>
            <a:endParaRPr lang="en-US" sz="4000" dirty="0">
              <a:solidFill>
                <a:srgbClr val="1605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Test Used:</a:t>
            </a:r>
          </a:p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Two-Sample T-Test</a:t>
            </a:r>
          </a:p>
          <a:p>
            <a:endParaRPr lang="en-US" sz="4000" dirty="0">
              <a:solidFill>
                <a:srgbClr val="1605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Results:</a:t>
            </a:r>
          </a:p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t-value = 2.93  </a:t>
            </a:r>
          </a:p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p-value &lt; 0.01  </a:t>
            </a:r>
          </a:p>
          <a:p>
            <a:endParaRPr lang="en-US" sz="4000" dirty="0">
              <a:solidFill>
                <a:srgbClr val="1605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Conclusion:</a:t>
            </a:r>
          </a:p>
          <a:p>
            <a:r>
              <a:rPr lang="en-US" sz="4000" dirty="0">
                <a:solidFill>
                  <a:srgbClr val="160512"/>
                </a:solidFill>
                <a:latin typeface="Open Sans"/>
                <a:ea typeface="Open Sans"/>
                <a:cs typeface="Open Sans"/>
                <a:sym typeface="Open Sans"/>
              </a:rPr>
              <a:t>Dinner revenue is significantly higher than lunch</a:t>
            </a:r>
            <a:endParaRPr lang="en-US" sz="4000" dirty="0">
              <a:solidFill>
                <a:srgbClr val="16051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20403" y="876300"/>
            <a:ext cx="13847195" cy="122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dirty="0" smtClean="0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RECOMMENDATIONS</a:t>
            </a:r>
            <a:endParaRPr lang="en-US" sz="7500" dirty="0">
              <a:solidFill>
                <a:srgbClr val="7976DE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48526" y="3314700"/>
            <a:ext cx="8943274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 on dinner promotions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Increase weekend marketing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44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Encourage group bookings</a:t>
            </a:r>
            <a:endParaRPr lang="en-US" sz="4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Freeform 7"/>
          <p:cNvSpPr/>
          <p:nvPr/>
        </p:nvSpPr>
        <p:spPr>
          <a:xfrm rot="10799999">
            <a:off x="14285892" y="-453058"/>
            <a:ext cx="4907070" cy="2034639"/>
          </a:xfrm>
          <a:custGeom>
            <a:avLst/>
            <a:gdLst/>
            <a:ahLst/>
            <a:cxnLst/>
            <a:rect l="l" t="t" r="r" b="b"/>
            <a:pathLst>
              <a:path w="4907070" h="2034639">
                <a:moveTo>
                  <a:pt x="0" y="0"/>
                </a:moveTo>
                <a:lnTo>
                  <a:pt x="4907070" y="0"/>
                </a:lnTo>
                <a:lnTo>
                  <a:pt x="4907070" y="2034639"/>
                </a:lnTo>
                <a:lnTo>
                  <a:pt x="0" y="203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3"/>
          <p:cNvSpPr/>
          <p:nvPr/>
        </p:nvSpPr>
        <p:spPr>
          <a:xfrm>
            <a:off x="11995745" y="3016250"/>
            <a:ext cx="4624276" cy="4940893"/>
          </a:xfrm>
          <a:custGeom>
            <a:avLst/>
            <a:gdLst/>
            <a:ahLst/>
            <a:cxnLst/>
            <a:rect l="l" t="t" r="r" b="b"/>
            <a:pathLst>
              <a:path w="4624276" h="4940893">
                <a:moveTo>
                  <a:pt x="0" y="0"/>
                </a:moveTo>
                <a:lnTo>
                  <a:pt x="4624276" y="0"/>
                </a:lnTo>
                <a:lnTo>
                  <a:pt x="4624276" y="4940893"/>
                </a:lnTo>
                <a:lnTo>
                  <a:pt x="0" y="4940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9514">
            <a:off x="-4351614" y="105858"/>
            <a:ext cx="26259383" cy="10888037"/>
          </a:xfrm>
          <a:custGeom>
            <a:avLst/>
            <a:gdLst/>
            <a:ahLst/>
            <a:cxnLst/>
            <a:rect l="l" t="t" r="r" b="b"/>
            <a:pathLst>
              <a:path w="26259383" h="10888037">
                <a:moveTo>
                  <a:pt x="0" y="0"/>
                </a:moveTo>
                <a:lnTo>
                  <a:pt x="26259383" y="0"/>
                </a:lnTo>
                <a:lnTo>
                  <a:pt x="26259383" y="10888036"/>
                </a:lnTo>
                <a:lnTo>
                  <a:pt x="0" y="10888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479367"/>
            <a:ext cx="7253387" cy="505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sz="14475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THANK</a:t>
            </a:r>
          </a:p>
          <a:p>
            <a:pPr marL="0" lvl="0" indent="0" algn="l">
              <a:lnSpc>
                <a:spcPts val="20266"/>
              </a:lnSpc>
              <a:spcBef>
                <a:spcPct val="0"/>
              </a:spcBef>
            </a:pPr>
            <a:r>
              <a:rPr lang="en-US" sz="14475">
                <a:solidFill>
                  <a:srgbClr val="7976DE"/>
                </a:solidFill>
                <a:latin typeface="Carelia"/>
                <a:ea typeface="Carelia"/>
                <a:cs typeface="Carelia"/>
                <a:sym typeface="Carelia"/>
              </a:rPr>
              <a:t> 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176</Words>
  <Application>Microsoft Office PowerPoint</Application>
  <PresentationFormat>Custom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Carelia</vt:lpstr>
      <vt:lpstr>Calibri</vt:lpstr>
      <vt:lpstr>Nirmala UI Semilight</vt:lpstr>
      <vt:lpstr>Open Sans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White Minimalist Pitch Deck Business Presentation</dc:title>
  <dc:creator>@nushri ....</dc:creator>
  <cp:lastModifiedBy>Anushri Ramteke</cp:lastModifiedBy>
  <cp:revision>18</cp:revision>
  <dcterms:created xsi:type="dcterms:W3CDTF">2006-08-16T00:00:00Z</dcterms:created>
  <dcterms:modified xsi:type="dcterms:W3CDTF">2026-03-31T11:21:26Z</dcterms:modified>
  <dc:identifier>DAHE2nmaIVU</dc:identifier>
</cp:coreProperties>
</file>